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25"/>
  </p:handoutMasterIdLst>
  <p:sldIdLst>
    <p:sldId id="258" r:id="rId4"/>
    <p:sldId id="294" r:id="rId6"/>
    <p:sldId id="296" r:id="rId7"/>
    <p:sldId id="295" r:id="rId8"/>
    <p:sldId id="316" r:id="rId9"/>
    <p:sldId id="317" r:id="rId10"/>
    <p:sldId id="318" r:id="rId11"/>
    <p:sldId id="319" r:id="rId12"/>
    <p:sldId id="323" r:id="rId13"/>
    <p:sldId id="320" r:id="rId14"/>
    <p:sldId id="321" r:id="rId15"/>
    <p:sldId id="324" r:id="rId16"/>
    <p:sldId id="322" r:id="rId17"/>
    <p:sldId id="301" r:id="rId18"/>
    <p:sldId id="326" r:id="rId19"/>
    <p:sldId id="315" r:id="rId20"/>
    <p:sldId id="325" r:id="rId21"/>
    <p:sldId id="304" r:id="rId22"/>
    <p:sldId id="327" r:id="rId23"/>
    <p:sldId id="265" r:id="rId24"/>
  </p:sldIdLst>
  <p:sldSz cx="12192000" cy="6858000"/>
  <p:notesSz cx="6858000" cy="9144000"/>
  <p:embeddedFontLst>
    <p:embeddedFont>
      <p:font typeface="Cascadia Code" panose="020B0609020000020004" charset="0"/>
      <p:regular r:id="rId29"/>
      <p:bold r:id="rId30"/>
    </p:embeddedFont>
    <p:embeddedFont>
      <p:font typeface="Blackadder ITC" panose="04020505051007020D02" charset="0"/>
      <p:regular r:id="rId31"/>
    </p:embeddedFont>
    <p:embeddedFont>
      <p:font typeface="Lato" panose="020F0502020204030203" charset="0"/>
      <p:regular r:id="rId32"/>
    </p:embeddedFont>
    <p:embeddedFont>
      <p:font typeface="Manrope ExtraBold" charset="0"/>
      <p:bold r:id="rId33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5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34" Type="http://schemas.openxmlformats.org/officeDocument/2006/relationships/customXml" Target="../customXml/item1.xml"/><Relationship Id="rId7" Type="http://schemas.openxmlformats.org/officeDocument/2006/relationships/slide" Target="slides/slide3.xml"/><Relationship Id="rId33" Type="http://schemas.openxmlformats.org/officeDocument/2006/relationships/font" Target="fonts/font5.fntdata"/><Relationship Id="rId25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9" Type="http://schemas.openxmlformats.org/officeDocument/2006/relationships/font" Target="fonts/font1.fntdata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32" Type="http://schemas.openxmlformats.org/officeDocument/2006/relationships/font" Target="fonts/font4.fntdata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6" Type="http://schemas.openxmlformats.org/officeDocument/2006/relationships/customXml" Target="../customXml/item3.xml"/><Relationship Id="rId31" Type="http://schemas.openxmlformats.org/officeDocument/2006/relationships/font" Target="fonts/font3.fntdata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0" Type="http://schemas.openxmlformats.org/officeDocument/2006/relationships/font" Target="fonts/font2.fntdata"/><Relationship Id="rId27" Type="http://schemas.openxmlformats.org/officeDocument/2006/relationships/viewProps" Target="viewProps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5" Type="http://schemas.openxmlformats.org/officeDocument/2006/relationships/customXml" Target="../customXml/item2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1151890" y="1365885"/>
            <a:ext cx="6343015" cy="7969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1151890" y="2314575"/>
            <a:ext cx="9429115" cy="1647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1151890" y="4104640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70" y="2009774"/>
            <a:ext cx="8619066" cy="4848225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10600690" y="1176655"/>
            <a:ext cx="9874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1270" y="1593215"/>
            <a:ext cx="12193270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362700" y="531495"/>
            <a:ext cx="533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073785" y="1535430"/>
            <a:ext cx="5628640" cy="1141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1073785" y="2767965"/>
            <a:ext cx="8561705" cy="2929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330" y="234315"/>
            <a:ext cx="10968990" cy="786130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705601" y="-1"/>
            <a:ext cx="5486399" cy="30860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978337"/>
            <a:ext cx="10452735" cy="5879663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5038090" y="4172585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796415" y="1999615"/>
            <a:ext cx="8939530" cy="151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2" Type="http://schemas.openxmlformats.org/officeDocument/2006/relationships/theme" Target="../theme/theme2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image" Target="../media/image3.png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392001" y="360000"/>
            <a:ext cx="10800000" cy="64980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5.xml"/><Relationship Id="rId3" Type="http://schemas.openxmlformats.org/officeDocument/2006/relationships/image" Target="../media/image4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0.xml"/><Relationship Id="rId3" Type="http://schemas.openxmlformats.org/officeDocument/2006/relationships/image" Target="../media/image6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0.xml"/><Relationship Id="rId2" Type="http://schemas.openxmlformats.org/officeDocument/2006/relationships/image" Target="../media/image7.jpeg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6.xml"/><Relationship Id="rId3" Type="http://schemas.openxmlformats.org/officeDocument/2006/relationships/image" Target="../media/image8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9.xml"/><Relationship Id="rId3" Type="http://schemas.openxmlformats.org/officeDocument/2006/relationships/hyperlink" Target="https://nodejs.org/en/download" TargetMode="Externa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2.xml"/><Relationship Id="rId3" Type="http://schemas.openxmlformats.org/officeDocument/2006/relationships/image" Target="../media/image9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12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1151890" y="1365885"/>
            <a:ext cx="6343015" cy="796925"/>
          </a:xfrm>
        </p:spPr>
        <p:txBody>
          <a:bodyPr/>
          <a:p>
            <a:pPr mar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GB" altLang="zh-CN" sz="3200" dirty="0"/>
              <a:t>Day 1</a:t>
            </a:r>
            <a:endParaRPr lang="en-GB" altLang="zh-CN" sz="3200" dirty="0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1151890" y="2314575"/>
            <a:ext cx="9429115" cy="1647825"/>
          </a:xfrm>
        </p:spPr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800"/>
              <a:t>Node js</a:t>
            </a:r>
            <a:endParaRPr altLang="en-US" sz="4800"/>
          </a:p>
        </p:txBody>
      </p:sp>
      <p:sp>
        <p:nvSpPr>
          <p:cNvPr id="5" name="文本占位符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/>
          <a:p>
            <a:r>
              <a:rPr lang="en-GB" altLang="en-US"/>
              <a:t>shimaa ismail</a:t>
            </a:r>
            <a:endParaRPr lang="en-GB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>
                <a:latin typeface="Cascadia Code" panose="020B0609020000020004" charset="0"/>
                <a:cs typeface="Cascadia Code" panose="020B0609020000020004" charset="0"/>
              </a:rPr>
              <a:t>content</a:t>
            </a:r>
            <a:endParaRPr lang="en-GB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GB" altLang="en-US"/>
          </a:p>
          <a:p>
            <a:r>
              <a:rPr lang="en-GB" altLang="en-US" sz="3200"/>
              <a:t>introduction</a:t>
            </a:r>
            <a:endParaRPr lang="en-GB" altLang="en-US" sz="3200"/>
          </a:p>
          <a:p>
            <a:r>
              <a:rPr lang="en-GB" altLang="en-US" sz="3200">
                <a:sym typeface="+mn-ea"/>
              </a:rPr>
              <a:t>clinet side web architecture</a:t>
            </a:r>
            <a:endParaRPr lang="en-GB" altLang="en-US" sz="3200"/>
          </a:p>
          <a:p>
            <a:r>
              <a:rPr lang="en-GB" altLang="en-US" sz="3200"/>
              <a:t>app server vs web server</a:t>
            </a:r>
            <a:endParaRPr lang="en-GB" altLang="en-US" sz="3200"/>
          </a:p>
          <a:p>
            <a:r>
              <a:rPr lang="en-GB" altLang="en-US" sz="3200"/>
              <a:t>what is node.js</a:t>
            </a:r>
            <a:endParaRPr lang="en-GB" altLang="en-US" sz="3200"/>
          </a:p>
          <a:p>
            <a:r>
              <a:rPr lang="en-US" altLang="en-GB" sz="3200"/>
              <a:t>Node.js vs Browser</a:t>
            </a:r>
            <a:endParaRPr lang="en-US" altLang="en-GB" sz="3200"/>
          </a:p>
          <a:p>
            <a:r>
              <a:rPr sz="3200">
                <a:sym typeface="+mn-ea"/>
              </a:rPr>
              <a:t>Event Loop</a:t>
            </a:r>
            <a:endParaRPr lang="en-US" altLang="en-GB" sz="3200"/>
          </a:p>
          <a:p>
            <a:endParaRPr lang="en-GB" altLang="en-US" sz="32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2124710"/>
            <a:ext cx="5323840" cy="4053205"/>
          </a:xfrm>
        </p:spPr>
        <p:txBody>
          <a:bodyPr/>
          <a:p>
            <a:r>
              <a:rPr sz="3200">
                <a:sym typeface="+mn-ea"/>
              </a:rPr>
              <a:t>Blocking vs Non-blocking</a:t>
            </a:r>
            <a:endParaRPr sz="3200">
              <a:sym typeface="+mn-ea"/>
            </a:endParaRPr>
          </a:p>
          <a:p>
            <a:r>
              <a:rPr lang="en-GB" altLang="en-US" sz="3200">
                <a:sym typeface="+mn-ea"/>
              </a:rPr>
              <a:t>globle ,</a:t>
            </a:r>
            <a:r>
              <a:rPr altLang="en-GB" sz="3200">
                <a:sym typeface="+mn-ea"/>
              </a:rPr>
              <a:t>REPL, </a:t>
            </a:r>
            <a:r>
              <a:rPr lang="en-GB" altLang="en-US" sz="3200">
                <a:sym typeface="+mn-ea"/>
              </a:rPr>
              <a:t>process</a:t>
            </a:r>
            <a:endParaRPr lang="en-US" sz="3200"/>
          </a:p>
          <a:p>
            <a:r>
              <a:rPr lang="en-GB" altLang="en-US" sz="3200">
                <a:sym typeface="+mn-ea"/>
              </a:rPr>
              <a:t>modules</a:t>
            </a:r>
            <a:endParaRPr lang="en-GB" altLang="en-US" sz="3200"/>
          </a:p>
          <a:p>
            <a:r>
              <a:rPr lang="en-GB" altLang="en-US" sz="3200">
                <a:sym typeface="+mn-ea"/>
              </a:rPr>
              <a:t>file system module</a:t>
            </a:r>
            <a:endParaRPr lang="en-GB" altLang="en-US" sz="3200"/>
          </a:p>
          <a:p>
            <a:endParaRPr lang="en-GB" altLang="en-US" sz="32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>
                <a:latin typeface="Cascadia Code" panose="020B0609020000020004" charset="0"/>
                <a:cs typeface="Cascadia Code" panose="020B0609020000020004" charset="0"/>
              </a:rPr>
              <a:t>web</a:t>
            </a:r>
            <a:endParaRPr lang="en-GB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4" name="Content Placeholder 3" descr="client-server-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1342390"/>
            <a:ext cx="10800080" cy="4791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 descr="JHB0e4go3tv8w3N1jhEm65M1M9Z0okyZrv5w5KNAp2c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1659255" y="834390"/>
            <a:ext cx="8277225" cy="49606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GB" altLang="en-US" sz="4000">
                <a:sym typeface="+mn-ea"/>
              </a:rPr>
              <a:t>app server</a:t>
            </a:r>
            <a:r>
              <a:rPr lang="en-GB" altLang="en-US" sz="4000"/>
              <a:t> </a:t>
            </a:r>
            <a:r>
              <a:rPr lang="en-GB" altLang="en-US" sz="4000">
                <a:latin typeface="Blackadder ITC" panose="04020505051007020D02" charset="0"/>
                <a:cs typeface="Blackadder ITC" panose="04020505051007020D02" charset="0"/>
              </a:rPr>
              <a:t> vs   </a:t>
            </a:r>
            <a:r>
              <a:rPr lang="en-GB" altLang="en-US" sz="4000">
                <a:sym typeface="+mn-ea"/>
              </a:rPr>
              <a:t>web server</a:t>
            </a:r>
            <a:endParaRPr lang="en-GB" altLang="en-US" sz="4000"/>
          </a:p>
        </p:txBody>
      </p:sp>
      <p:pic>
        <p:nvPicPr>
          <p:cNvPr id="3" name="Content Placeholder 2" descr="1_FvZY_VP3QdqcKbBsZZ4dCA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24965" y="2106930"/>
            <a:ext cx="8494395" cy="21869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 sz="3600" u="sng"/>
              <a:t>Node js</a:t>
            </a:r>
            <a:endParaRPr lang="en-GB" altLang="en-US" sz="3600" u="sn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en-GB" sz="2800"/>
              <a:t>is a runtime environment for executing JavaScript outside the browser, built on the </a:t>
            </a:r>
            <a:r>
              <a:rPr lang="en-US" altLang="en-GB" sz="2800">
                <a:solidFill>
                  <a:srgbClr val="FFFF00"/>
                </a:solidFill>
              </a:rPr>
              <a:t>V8</a:t>
            </a:r>
            <a:r>
              <a:rPr lang="en-US" altLang="en-GB" sz="2800"/>
              <a:t> JavaScript engine</a:t>
            </a:r>
            <a:r>
              <a:rPr lang="en-GB" altLang="en-US" sz="2800"/>
              <a:t>.</a:t>
            </a:r>
            <a:endParaRPr lang="en-GB" altLang="en-US" sz="2800"/>
          </a:p>
          <a:p>
            <a:r>
              <a:rPr altLang="en-GB" sz="2800">
                <a:sym typeface="+mn-ea"/>
              </a:rPr>
              <a:t>Node created by Ryan Dahl in 2009.</a:t>
            </a:r>
            <a:endParaRPr lang="en-GB" altLang="en-US" sz="2800"/>
          </a:p>
          <a:p>
            <a:r>
              <a:rPr lang="en-GB" altLang="en-US" sz="2800"/>
              <a:t>is </a:t>
            </a:r>
            <a:r>
              <a:rPr lang="en-US" altLang="en-GB" sz="2800"/>
              <a:t>a free, </a:t>
            </a:r>
            <a:r>
              <a:rPr lang="en-US" altLang="en-GB" sz="2800">
                <a:solidFill>
                  <a:srgbClr val="FFFF00"/>
                </a:solidFill>
              </a:rPr>
              <a:t>open-source</a:t>
            </a:r>
            <a:r>
              <a:rPr lang="en-US" altLang="en-GB" sz="2800"/>
              <a:t>, </a:t>
            </a:r>
            <a:r>
              <a:rPr lang="en-US" altLang="en-GB" sz="2800">
                <a:solidFill>
                  <a:srgbClr val="FFFF00"/>
                </a:solidFill>
              </a:rPr>
              <a:t>cross-platform </a:t>
            </a:r>
            <a:r>
              <a:rPr lang="en-US" altLang="en-GB" sz="2800"/>
              <a:t>JavaScript runtime environment that lets developers create servers, web apps, command line tools and scripts.</a:t>
            </a:r>
            <a:endParaRPr lang="en-US" altLang="en-GB" sz="2800"/>
          </a:p>
          <a:p>
            <a:pPr marL="0" indent="0">
              <a:buNone/>
            </a:pPr>
            <a:endParaRPr lang="en-US" altLang="en-GB" sz="2800"/>
          </a:p>
          <a:p>
            <a:r>
              <a:rPr lang="en-US" altLang="en-GB" sz="2800"/>
              <a:t>Node JS is not a programming language, a framework, or a library. </a:t>
            </a:r>
            <a:endParaRPr lang="en-US" altLang="en-GB" sz="2800"/>
          </a:p>
          <a:p>
            <a:endParaRPr lang="en-US" altLang="en-GB" sz="2800"/>
          </a:p>
          <a:p>
            <a:endParaRPr lang="en-GB" alt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GB" sz="2200"/>
              <a:t>Event-Driven, Non-Blocking I/O: Handles multiple requests efficiently without waiting for previous tasks to finish.</a:t>
            </a:r>
            <a:endParaRPr lang="en-US" altLang="en-GB" sz="2200"/>
          </a:p>
          <a:p>
            <a:endParaRPr lang="en-US" altLang="en-GB" sz="2200"/>
          </a:p>
          <a:p>
            <a:r>
              <a:rPr lang="en-US" altLang="en-GB" sz="2200"/>
              <a:t>Single-Threaded Model: Uses an event loop to manage many connections</a:t>
            </a:r>
            <a:endParaRPr lang="en-US" altLang="en-GB" sz="2200"/>
          </a:p>
          <a:p>
            <a:endParaRPr lang="en-US" altLang="en-GB" sz="2200"/>
          </a:p>
          <a:p>
            <a:r>
              <a:rPr lang="en-GB" altLang="en-US" sz="2200">
                <a:sym typeface="+mn-ea"/>
              </a:rPr>
              <a:t>compaines use node js :: </a:t>
            </a:r>
            <a:r>
              <a:rPr altLang="en-GB" sz="2200">
                <a:sym typeface="+mn-ea"/>
              </a:rPr>
              <a:t>PayPal</a:t>
            </a:r>
            <a:r>
              <a:rPr lang="en-GB" altLang="en-US" sz="2200">
                <a:sym typeface="+mn-ea"/>
              </a:rPr>
              <a:t> , </a:t>
            </a:r>
            <a:r>
              <a:rPr altLang="en-GB" sz="2200">
                <a:sym typeface="+mn-ea"/>
              </a:rPr>
              <a:t>Netflix</a:t>
            </a:r>
            <a:r>
              <a:rPr lang="en-GB" altLang="en-US" sz="2200">
                <a:sym typeface="+mn-ea"/>
              </a:rPr>
              <a:t> , </a:t>
            </a:r>
            <a:r>
              <a:rPr altLang="en-GB" sz="2200">
                <a:sym typeface="+mn-ea"/>
              </a:rPr>
              <a:t>LinkedIn</a:t>
            </a:r>
            <a:r>
              <a:rPr lang="en-GB" altLang="en-US" sz="2200">
                <a:sym typeface="+mn-ea"/>
              </a:rPr>
              <a:t> , </a:t>
            </a:r>
            <a:r>
              <a:rPr altLang="en-GB" sz="2200">
                <a:sym typeface="+mn-ea"/>
              </a:rPr>
              <a:t>Uber</a:t>
            </a:r>
            <a:r>
              <a:rPr lang="en-GB" altLang="en-US" sz="2200">
                <a:sym typeface="+mn-ea"/>
              </a:rPr>
              <a:t> , </a:t>
            </a:r>
            <a:r>
              <a:rPr altLang="en-GB" sz="2200">
                <a:sym typeface="+mn-ea"/>
              </a:rPr>
              <a:t>NASA</a:t>
            </a:r>
            <a:r>
              <a:rPr lang="en-GB" altLang="en-US" sz="2200">
                <a:sym typeface="+mn-ea"/>
              </a:rPr>
              <a:t>.</a:t>
            </a:r>
            <a:endParaRPr lang="en-GB" altLang="en-US" sz="2200">
              <a:sym typeface="+mn-ea"/>
            </a:endParaRPr>
          </a:p>
          <a:p>
            <a:endParaRPr lang="en-GB" altLang="en-US" sz="2200">
              <a:sym typeface="+mn-ea"/>
            </a:endParaRPr>
          </a:p>
          <a:p>
            <a:r>
              <a:rPr lang="en-US" altLang="en-GB" sz="2200"/>
              <a:t>Real-Time Applications</a:t>
            </a:r>
            <a:r>
              <a:rPr lang="en-GB" altLang="en-US" sz="2200">
                <a:sym typeface="+mn-ea"/>
              </a:rPr>
              <a:t>,</a:t>
            </a:r>
            <a:r>
              <a:rPr lang="en-US" altLang="en-GB" sz="2200"/>
              <a:t>Web APIs</a:t>
            </a:r>
            <a:r>
              <a:rPr lang="en-GB" altLang="en-US" sz="2200"/>
              <a:t>,</a:t>
            </a:r>
            <a:r>
              <a:rPr lang="en-US" altLang="en-GB" sz="2200"/>
              <a:t>Streaming Applications</a:t>
            </a:r>
            <a:endParaRPr lang="en-US" altLang="en-GB" sz="2200"/>
          </a:p>
          <a:p>
            <a:endParaRPr lang="en-US" altLang="en-GB" sz="2200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GB" altLang="en-US" sz="3600"/>
              <a:t>           Blocking                        vs                non Blocking</a:t>
            </a:r>
            <a:endParaRPr lang="en-GB" altLang="en-US" sz="3600"/>
          </a:p>
        </p:txBody>
      </p:sp>
      <p:sp>
        <p:nvSpPr>
          <p:cNvPr id="7" name="Content Placeholder 6"/>
          <p:cNvSpPr/>
          <p:nvPr>
            <p:ph sz="half" idx="1"/>
            <p:custDataLst>
              <p:tags r:id="rId2"/>
            </p:custDataLst>
          </p:nvPr>
        </p:nvSpPr>
        <p:spPr>
          <a:xfrm>
            <a:off x="695960" y="1611630"/>
            <a:ext cx="5323840" cy="4566285"/>
          </a:xfrm>
        </p:spPr>
        <p:txBody>
          <a:bodyPr/>
          <a:p>
            <a:r>
              <a:rPr lang="en-GB" altLang="en-US" sz="3200">
                <a:sym typeface="+mn-ea"/>
              </a:rPr>
              <a:t>Blocking ( </a:t>
            </a:r>
            <a:r>
              <a:rPr lang="en-US" altLang="en-GB" sz="3200"/>
              <a:t>synchronous</a:t>
            </a:r>
            <a:r>
              <a:rPr lang="en-GB" altLang="en-US" sz="3200"/>
              <a:t>)</a:t>
            </a:r>
            <a:endParaRPr lang="en-US" altLang="en-GB" sz="3200"/>
          </a:p>
          <a:p>
            <a:r>
              <a:rPr lang="en-US" altLang="en-GB" sz="3200"/>
              <a:t> Code is executed line-by-line. If one line takes 5 seconds, the next line waits 5 seconds</a:t>
            </a:r>
            <a:endParaRPr lang="en-US" altLang="en-GB" sz="320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612265"/>
            <a:ext cx="5323840" cy="4565650"/>
          </a:xfrm>
        </p:spPr>
        <p:txBody>
          <a:bodyPr>
            <a:normAutofit lnSpcReduction="10000"/>
          </a:bodyPr>
          <a:p>
            <a:r>
              <a:rPr lang="en-GB" altLang="en-US" sz="2800">
                <a:sym typeface="+mn-ea"/>
              </a:rPr>
              <a:t>non Blocking (</a:t>
            </a:r>
            <a:r>
              <a:rPr lang="en-US" altLang="en-GB" sz="2800"/>
              <a:t>asynchronous</a:t>
            </a:r>
            <a:r>
              <a:rPr lang="en-GB" altLang="en-US" sz="2800"/>
              <a:t>)</a:t>
            </a:r>
            <a:endParaRPr lang="en-US" altLang="en-GB" sz="2800"/>
          </a:p>
          <a:p>
            <a:r>
              <a:rPr lang="en-US" altLang="en-GB" sz="2800"/>
              <a:t>Code initiates a task and moves to the next line immediately. The task continues in the background.</a:t>
            </a:r>
            <a:endParaRPr lang="en-US" altLang="en-GB" sz="2800"/>
          </a:p>
          <a:p>
            <a:endParaRPr lang="en-US" altLang="en-GB" sz="2800"/>
          </a:p>
          <a:p>
            <a:r>
              <a:rPr altLang="en-GB" sz="2800">
                <a:sym typeface="+mn-ea"/>
              </a:rPr>
              <a:t>Uses an event-driven architecture to handle multiple requests without waiting, improving performance.</a:t>
            </a:r>
            <a:endParaRPr lang="en-US" altLang="en-GB" sz="2800"/>
          </a:p>
          <a:p>
            <a:endParaRPr lang="en-US" altLang="en-GB" sz="2800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Node_js_Architecture_7486a783aa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2700" y="1301750"/>
            <a:ext cx="8760460" cy="48736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why u</a:t>
            </a:r>
            <a:r>
              <a:rPr>
                <a:sym typeface="+mn-ea"/>
              </a:rPr>
              <a:t>se Node.js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800"/>
              <a:t>High Performance: Built on Chrome’s V8 engine for fast execution</a:t>
            </a:r>
            <a:endParaRPr lang="en-US" altLang="en-GB" sz="2800"/>
          </a:p>
          <a:p>
            <a:r>
              <a:rPr lang="en-US" altLang="en-GB" sz="2800"/>
              <a:t>Event-Driven Model: Handles multiple requests using a non-blocking event loop</a:t>
            </a:r>
            <a:endParaRPr lang="en-US" altLang="en-GB" sz="2800"/>
          </a:p>
          <a:p>
            <a:r>
              <a:rPr lang="en-US" altLang="en-GB" sz="2800"/>
              <a:t>Unified Language: Uses JavaScript for both frontend and backend</a:t>
            </a:r>
            <a:endParaRPr lang="en-US" altLang="en-GB" sz="2800"/>
          </a:p>
          <a:p>
            <a:r>
              <a:rPr lang="en-US" altLang="en-GB" sz="2800"/>
              <a:t>Rich Ecosystem: Extensive npm libraries and tools</a:t>
            </a:r>
            <a:endParaRPr lang="en-US" altLang="en-GB" sz="2800"/>
          </a:p>
          <a:p>
            <a:r>
              <a:rPr lang="en-US" altLang="en-GB" sz="2800"/>
              <a:t>Real-Time Capabilities: Suitable for chat apps and live updates</a:t>
            </a:r>
            <a:endParaRPr lang="en-US" altLang="en-GB" sz="2800"/>
          </a:p>
          <a:p>
            <a:r>
              <a:rPr altLang="en-GB" sz="2800">
                <a:sym typeface="+mn-ea"/>
              </a:rPr>
              <a:t>Cross-Platform: Works on Windows, macOS, and Linux</a:t>
            </a:r>
            <a:endParaRPr lang="en-US" altLang="en-GB" sz="2800"/>
          </a:p>
          <a:p>
            <a:endParaRPr lang="en-US" altLang="en-GB" sz="2800"/>
          </a:p>
          <a:p>
            <a:pPr algn="r"/>
            <a:endParaRPr lang="en-US" altLang="en-GB" sz="28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Node JS Environment</a:t>
            </a:r>
            <a:endParaRPr lang="en-GB" altLang="en-US"/>
          </a:p>
        </p:txBody>
      </p:sp>
      <p:pic>
        <p:nvPicPr>
          <p:cNvPr id="1026" name="Picture 2" descr="Node.js vs Browser - Top Differences That Every Developer Should Know -  GeeksforGeeks"/>
          <p:cNvPicPr>
            <a:picLocks noChangeAspect="1" noChangeArrowheads="1"/>
          </p:cNvPicPr>
          <p:nvPr>
            <p:ph idx="1"/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5370" y="1780540"/>
            <a:ext cx="9525000" cy="3657600"/>
          </a:xfrm>
          <a:prstGeom prst="rect">
            <a:avLst/>
          </a:prstGeom>
          <a:solidFill>
            <a:srgbClr val="FFFFFF"/>
          </a:solidFill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/>
            <a:r>
              <a:rPr lang="en-US" altLang="en-GB" sz="5400">
                <a:solidFill>
                  <a:schemeClr val="bg2">
                    <a:lumMod val="50000"/>
                    <a:lumOff val="50000"/>
                  </a:schemeClr>
                </a:solidFill>
                <a:latin typeface="+mj-lt"/>
                <a:cs typeface="+mj-lt"/>
                <a:sym typeface="+mn-ea"/>
              </a:rPr>
              <a:t>Getting Started</a:t>
            </a:r>
            <a:endParaRPr lang="en-GB" altLang="en-US" sz="5400" b="1">
              <a:solidFill>
                <a:schemeClr val="bg2">
                  <a:lumMod val="50000"/>
                  <a:lumOff val="50000"/>
                </a:schemeClr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GB" altLang="en-US" sz="3600">
                <a:solidFill>
                  <a:schemeClr val="tx1"/>
                </a:solidFill>
                <a:cs typeface="+mj-lt"/>
                <a:sym typeface="+mn-ea"/>
              </a:rPr>
              <a:t>set up node js </a:t>
            </a:r>
            <a:r>
              <a:rPr lang="en-GB" altLang="en-US" sz="3600">
                <a:solidFill>
                  <a:schemeClr val="tx1"/>
                </a:solidFill>
                <a:latin typeface="+mn-lt"/>
                <a:cs typeface="+mn-lt"/>
              </a:rPr>
              <a:t>go to :</a:t>
            </a:r>
            <a:br>
              <a:rPr lang="en-GB" altLang="en-US" sz="3600">
                <a:solidFill>
                  <a:schemeClr val="tx1"/>
                </a:solidFill>
                <a:latin typeface="+mn-lt"/>
                <a:cs typeface="+mn-lt"/>
              </a:rPr>
            </a:br>
            <a:r>
              <a:rPr lang="en-GB" altLang="en-US" sz="3600">
                <a:solidFill>
                  <a:schemeClr val="tx1"/>
                </a:solidFill>
                <a:latin typeface="+mn-lt"/>
                <a:cs typeface="+mn-lt"/>
              </a:rPr>
              <a:t>	</a:t>
            </a:r>
            <a:r>
              <a:rPr sz="3600">
                <a:sym typeface="+mn-ea"/>
                <a:hlinkClick r:id="rId3"/>
              </a:rPr>
              <a:t>https://nodejs.org/en/download</a:t>
            </a:r>
            <a:br>
              <a:rPr lang="en-US" altLang="en-GB" sz="3600">
                <a:solidFill>
                  <a:schemeClr val="tx1"/>
                </a:solidFill>
                <a:latin typeface="+mn-lt"/>
                <a:cs typeface="+mn-lt"/>
              </a:rPr>
            </a:br>
            <a:endParaRPr lang="en-US" altLang="en-GB" sz="36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npm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GB" altLang="en-US" sz="2400" b="1">
                <a:ln>
                  <a:noFill/>
                </a:ln>
                <a:effectLst/>
                <a:sym typeface="+mn-ea"/>
              </a:rPr>
              <a:t>npm ==&gt; </a:t>
            </a:r>
            <a:r>
              <a:rPr altLang="en-US" sz="2400" b="1">
                <a:ln>
                  <a:noFill/>
                </a:ln>
                <a:effectLst/>
                <a:sym typeface="+mn-ea"/>
              </a:rPr>
              <a:t>Node Package Manager</a:t>
            </a:r>
            <a:endParaRPr lang="en-US" altLang="en-US" sz="2400" b="1">
              <a:ln>
                <a:noFill/>
              </a:ln>
              <a:effectLst/>
              <a:sym typeface="+mn-ea"/>
            </a:endParaRPr>
          </a:p>
          <a:p>
            <a:r>
              <a:rPr altLang="en-US" sz="2400">
                <a:ln>
                  <a:noFill/>
                </a:ln>
                <a:effectLst/>
                <a:sym typeface="+mn-ea"/>
              </a:rPr>
              <a:t>installed automatically when you install </a:t>
            </a:r>
            <a:r>
              <a:rPr altLang="en-US" sz="2400" b="1">
                <a:ln>
                  <a:noFill/>
                </a:ln>
                <a:effectLst/>
                <a:sym typeface="+mn-ea"/>
              </a:rPr>
              <a:t>Node.js</a:t>
            </a:r>
            <a:r>
              <a:rPr altLang="en-US" sz="2400">
                <a:ln>
                  <a:noFill/>
                </a:ln>
                <a:effectLst/>
                <a:sym typeface="+mn-ea"/>
              </a:rPr>
              <a:t>.</a:t>
            </a:r>
            <a:endParaRPr lang="en-US" altLang="en-GB" sz="2400"/>
          </a:p>
          <a:p>
            <a:r>
              <a:rPr altLang="en-GB" sz="2400">
                <a:sym typeface="+mn-ea"/>
              </a:rPr>
              <a:t>npm is the world's largest software registry. </a:t>
            </a:r>
            <a:endParaRPr lang="en-US" altLang="en-GB" sz="2400"/>
          </a:p>
          <a:p>
            <a:r>
              <a:rPr altLang="en-GB" sz="2400">
                <a:ln>
                  <a:noFill/>
                </a:ln>
                <a:effectLst/>
                <a:sym typeface="+mn-ea"/>
              </a:rPr>
              <a:t>the Command Line </a:t>
            </a:r>
            <a:r>
              <a:rPr lang="en-GB" altLang="en-US" sz="2400">
                <a:ln>
                  <a:noFill/>
                </a:ln>
                <a:effectLst/>
                <a:sym typeface="+mn-ea"/>
              </a:rPr>
              <a:t>that help to install and manage packages</a:t>
            </a:r>
            <a:endParaRPr kumimoji="0" lang="en-GB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endParaRPr lang="en-GB" altLang="en-US" sz="2400"/>
          </a:p>
        </p:txBody>
      </p:sp>
      <p:pic>
        <p:nvPicPr>
          <p:cNvPr id="4" name="Picture 3" descr="n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15" y="3676650"/>
            <a:ext cx="5009515" cy="1873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 Modules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 sz="2400"/>
              <a:t>modules are reusable blocks of code that help organize applications into separate files. They improve code maintainability, reusability, and structure.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r>
              <a:rPr lang="en-US" altLang="en-GB" sz="2400"/>
              <a:t>Encapsulate related functionality in separate files.</a:t>
            </a:r>
            <a:endParaRPr lang="en-US" altLang="en-GB" sz="2400"/>
          </a:p>
          <a:p>
            <a:r>
              <a:rPr lang="en-US" altLang="en-GB" sz="2400"/>
              <a:t>Can be imported using require() or import.</a:t>
            </a:r>
            <a:endParaRPr lang="en-US" altLang="en-GB" sz="2400"/>
          </a:p>
          <a:p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Types of node.js Modules</a:t>
            </a:r>
            <a:r>
              <a:rPr lang="en-GB" altLang="en-US" sz="2400"/>
              <a:t> :</a:t>
            </a:r>
            <a:endParaRPr lang="en-US" altLang="en-GB" sz="2400"/>
          </a:p>
          <a:p>
            <a:pPr lvl="1"/>
            <a:r>
              <a:rPr lang="en-US" altLang="en-GB" sz="2400">
                <a:solidFill>
                  <a:srgbClr val="FFFF00"/>
                </a:solidFill>
              </a:rPr>
              <a:t>Core Modules</a:t>
            </a:r>
            <a:r>
              <a:rPr lang="en-GB" altLang="en-US" sz="2400"/>
              <a:t> (</a:t>
            </a:r>
            <a:r>
              <a:rPr lang="en-US" altLang="en-GB" sz="2400"/>
              <a:t>built-in modules</a:t>
            </a:r>
            <a:r>
              <a:rPr lang="en-GB" altLang="en-US" sz="2400"/>
              <a:t>)</a:t>
            </a:r>
            <a:endParaRPr lang="en-US" altLang="en-GB" sz="2400"/>
          </a:p>
          <a:p>
            <a:pPr lvl="1"/>
            <a:r>
              <a:rPr lang="en-US" altLang="en-GB" sz="2400">
                <a:solidFill>
                  <a:srgbClr val="FFFF00"/>
                </a:solidFill>
              </a:rPr>
              <a:t>Local Modules</a:t>
            </a:r>
            <a:r>
              <a:rPr lang="en-GB" altLang="en-US" sz="2400"/>
              <a:t> (custom modules)</a:t>
            </a:r>
            <a:endParaRPr lang="en-US" altLang="en-GB" sz="2400"/>
          </a:p>
          <a:p>
            <a:pPr lvl="1"/>
            <a:r>
              <a:rPr lang="en-US" altLang="en-GB" sz="2400">
                <a:solidFill>
                  <a:srgbClr val="FFFF00"/>
                </a:solidFill>
              </a:rPr>
              <a:t>Third-Party Modules</a:t>
            </a:r>
            <a:r>
              <a:rPr lang="en-GB" altLang="en-US" sz="2400">
                <a:solidFill>
                  <a:srgbClr val="FFFF00"/>
                </a:solidFill>
              </a:rPr>
              <a:t> </a:t>
            </a:r>
            <a:r>
              <a:rPr lang="en-GB" altLang="en-US" sz="2400"/>
              <a:t>(</a:t>
            </a:r>
            <a:r>
              <a:rPr lang="en-US" altLang="en-GB" sz="2000"/>
              <a:t>created by external developers</a:t>
            </a:r>
            <a:r>
              <a:rPr lang="en-GB" altLang="en-US" sz="2000"/>
              <a:t> npm packages )</a:t>
            </a:r>
            <a:endParaRPr lang="en-GB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/>
              <a:t>Core Module</a:t>
            </a:r>
            <a:endParaRPr lang="en-GB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GB" sz="2800"/>
              <a:t>These are built-in modules provided by Node.js</a:t>
            </a:r>
            <a:r>
              <a:rPr lang="en-GB" altLang="en-US" sz="2800"/>
              <a:t>.</a:t>
            </a:r>
            <a:endParaRPr lang="en-GB" altLang="en-US" sz="2800"/>
          </a:p>
          <a:p>
            <a:pPr marL="0" indent="0">
              <a:buNone/>
            </a:pPr>
            <a:endParaRPr lang="en-US" altLang="en-GB" sz="2800"/>
          </a:p>
          <a:p>
            <a:r>
              <a:rPr lang="en-US" altLang="en-GB" sz="2800"/>
              <a:t>They come with the Node.js installation and don’t require any additional setup. </a:t>
            </a:r>
            <a:endParaRPr lang="en-US" altLang="en-GB" sz="2800"/>
          </a:p>
          <a:p>
            <a:pPr marL="0" indent="0">
              <a:buNone/>
            </a:pPr>
            <a:endParaRPr lang="en-US" altLang="en-GB" sz="2800"/>
          </a:p>
          <a:p>
            <a:pPr marL="0" indent="0">
              <a:buNone/>
            </a:pPr>
            <a:r>
              <a:rPr lang="en-US" altLang="en-GB" sz="2800"/>
              <a:t>For example</a:t>
            </a:r>
            <a:r>
              <a:rPr lang="en-GB" altLang="en-US" sz="2800"/>
              <a:t>::</a:t>
            </a:r>
            <a:endParaRPr lang="en-GB" altLang="en-US" sz="2800"/>
          </a:p>
          <a:p>
            <a:pPr marL="457200" lvl="1" indent="0">
              <a:buNone/>
            </a:pPr>
            <a:r>
              <a:rPr altLang="en-GB" sz="2485">
                <a:sym typeface="+mn-ea"/>
              </a:rPr>
              <a:t> fs (file system), </a:t>
            </a:r>
            <a:endParaRPr altLang="en-GB" sz="2485">
              <a:sym typeface="+mn-ea"/>
            </a:endParaRPr>
          </a:p>
          <a:p>
            <a:pPr marL="457200" lvl="1" indent="0">
              <a:buNone/>
            </a:pPr>
            <a:r>
              <a:rPr lang="en-GB" altLang="en-US" sz="2485">
                <a:sym typeface="+mn-ea"/>
              </a:rPr>
              <a:t> </a:t>
            </a:r>
            <a:r>
              <a:rPr altLang="en-GB" sz="2485">
                <a:sym typeface="+mn-ea"/>
              </a:rPr>
              <a:t>http is used to create HTTP servers</a:t>
            </a:r>
            <a:endParaRPr altLang="en-GB" sz="2485">
              <a:sym typeface="+mn-ea"/>
            </a:endParaRPr>
          </a:p>
          <a:p>
            <a:pPr marL="457200" lvl="1" indent="0">
              <a:buNone/>
            </a:pPr>
            <a:r>
              <a:rPr lang="en-GB" altLang="en-US" sz="2485">
                <a:sym typeface="+mn-ea"/>
              </a:rPr>
              <a:t> os ,  </a:t>
            </a:r>
            <a:r>
              <a:rPr altLang="en-GB" sz="2485">
                <a:sym typeface="+mn-ea"/>
              </a:rPr>
              <a:t>path </a:t>
            </a:r>
            <a:endParaRPr altLang="en-GB" sz="2485">
              <a:sym typeface="+mn-ea"/>
            </a:endParaRPr>
          </a:p>
          <a:p>
            <a:pPr marL="0" indent="0">
              <a:buNone/>
            </a:pPr>
            <a:endParaRPr lang="en-US" altLang="en-GB" sz="28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fs (File System) </a:t>
            </a:r>
            <a:endParaRPr lang="en-GB" alt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400"/>
              <a:t>The fs (File System) module in Node.js is a built-in module used to interact with the file system. It supports both synchronous and asynchronous operations for handling files and directories efficiently.</a:t>
            </a:r>
            <a:endParaRPr lang="en-US" altLang="en-GB" sz="2400"/>
          </a:p>
          <a:p>
            <a:endParaRPr lang="en-US" altLang="en-GB" sz="2400"/>
          </a:p>
        </p:txBody>
      </p:sp>
      <p:pic>
        <p:nvPicPr>
          <p:cNvPr id="7" name="Picture 6" descr="read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" y="4018280"/>
            <a:ext cx="6456680" cy="2698115"/>
          </a:xfrm>
          <a:prstGeom prst="rect">
            <a:avLst/>
          </a:prstGeom>
        </p:spPr>
      </p:pic>
      <p:pic>
        <p:nvPicPr>
          <p:cNvPr id="8" name="Picture 7" descr="readfilesync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940" y="2357120"/>
            <a:ext cx="5751830" cy="26250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u="sng"/>
              <a:t>Modular Programming</a:t>
            </a:r>
            <a:endParaRPr lang="en-GB" alt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l"/>
            <a:r>
              <a:rPr lang="en-US" altLang="en-GB" sz="3200"/>
              <a:t>ES6 Modules (ECMAScript Modules - ESM)</a:t>
            </a:r>
            <a:endParaRPr lang="en-US" altLang="en-GB" sz="3200"/>
          </a:p>
          <a:p>
            <a:pPr marL="0" indent="0" algn="l">
              <a:buNone/>
            </a:pPr>
            <a:endParaRPr lang="en-US" altLang="en-GB" sz="3200"/>
          </a:p>
          <a:p>
            <a:pPr algn="l"/>
            <a:r>
              <a:rPr lang="en-US" altLang="en-GB" sz="3200"/>
              <a:t>CommonJS Modules (CJS)</a:t>
            </a:r>
            <a:endParaRPr lang="en-US" altLang="en-GB" sz="3200"/>
          </a:p>
          <a:p>
            <a:pPr marL="0" indent="0" algn="l">
              <a:buNone/>
            </a:pPr>
            <a:endParaRPr lang="en-US" altLang="en-GB" sz="3200"/>
          </a:p>
          <a:p>
            <a:pPr marL="0" indent="0" algn="l">
              <a:buNone/>
            </a:pPr>
            <a:endParaRPr lang="en-GB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sym typeface="+mn-ea"/>
              </a:rPr>
              <a:t>Node REPL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400"/>
              <a:t>NodeJS REPL (Read-Eval-Print Loop) is an interactive shell that allows you to execute JavaScript code line-by-line and see immediate results. This tool is extremely useful for quick testing, debugging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/>
              <a:t>READ: You type some JavaScript code into the terminal, and REPL reads what you typed.</a:t>
            </a:r>
            <a:endParaRPr lang="en-US" altLang="en-GB" sz="2400"/>
          </a:p>
          <a:p>
            <a:r>
              <a:rPr lang="en-US" altLang="en-GB" sz="2400"/>
              <a:t>EVAL: REPL runs (evaluates) your code.</a:t>
            </a:r>
            <a:endParaRPr lang="en-US" altLang="en-GB" sz="2400"/>
          </a:p>
          <a:p>
            <a:r>
              <a:rPr lang="en-US" altLang="en-GB" sz="2400"/>
              <a:t>PRINT: REPL shows you the result of your code.</a:t>
            </a:r>
            <a:endParaRPr lang="en-US" altLang="en-GB" sz="2400"/>
          </a:p>
          <a:p>
            <a:r>
              <a:rPr lang="en-US" altLang="en-GB" sz="2400"/>
              <a:t>LOOP: REPL goes back to step 1, waiting for you to type more code.This loop continues until you quit REPL.</a:t>
            </a:r>
            <a:endParaRPr lang="en-US" altLang="en-GB" sz="2400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altLang="en-US" b="0">
                <a:ln>
                  <a:noFill/>
                </a:ln>
                <a:effectLst/>
                <a:sym typeface="+mn-ea"/>
              </a:rPr>
              <a:t>process.argv</a:t>
            </a:r>
            <a:endParaRPr lang="en-GB" altLang="en-US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demo</a:t>
            </a:r>
            <a:endParaRPr lang="en-GB" altLang="en-US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796415" y="1999615"/>
            <a:ext cx="8939530" cy="1518285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en-US" sz="6000"/>
              <a:t>THANK YOU</a:t>
            </a:r>
            <a:endParaRPr lang="en-GB" altLang="en-US" sz="6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57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Your title here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汇报人：稻小壳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  <p:tag name="KSO_WM_SLIDE_THEME_ID" val="3321307"/>
  <p:tag name="KSO_WM_SLIDE_THEME_NAME" val="Z_20233457_Green Technology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7.xml><?xml version="1.0" encoding="utf-8"?>
<p:tagLst xmlns:p="http://schemas.openxmlformats.org/presentationml/2006/main">
  <p:tag name="KSO_WM_UNIT_SUBTYPE" val="a"/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SUBTYPE" val="a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THANK YOU"/>
</p:tagLst>
</file>

<file path=ppt/tags/tag133.xml><?xml version="1.0" encoding="utf-8"?>
<p:tagLst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  <p:tag name="KSO_WM_SLIDE_THEME_ID" val="3321307"/>
  <p:tag name="KSO_WM_SLIDE_THEME_NAME" val="Z_20233457_Green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AE85B8-F577-41A2-91F9-F5D295E58488}"/>
</file>

<file path=customXml/itemProps2.xml><?xml version="1.0" encoding="utf-8"?>
<ds:datastoreItem xmlns:ds="http://schemas.openxmlformats.org/officeDocument/2006/customXml" ds:itemID="{F110EAFC-64A6-4C80-9E99-AA6BBA970EBC}"/>
</file>

<file path=customXml/itemProps3.xml><?xml version="1.0" encoding="utf-8"?>
<ds:datastoreItem xmlns:ds="http://schemas.openxmlformats.org/officeDocument/2006/customXml" ds:itemID="{A85538DA-4180-4CC4-82CA-5857B7019D3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3402</Words>
  <Application>WPS Presentation</Application>
  <PresentationFormat/>
  <Paragraphs>133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等线</vt:lpstr>
      <vt:lpstr>Cascadia Code</vt:lpstr>
      <vt:lpstr>Blackadder ITC</vt:lpstr>
      <vt:lpstr>Lato</vt:lpstr>
      <vt:lpstr>Manrope ExtraBold</vt:lpstr>
      <vt:lpstr>Microsoft YaHei</vt:lpstr>
      <vt:lpstr>Arial Unicode MS</vt:lpstr>
      <vt:lpstr>Office Theme</vt:lpstr>
      <vt:lpstr>1_Office Theme</vt:lpstr>
      <vt:lpstr>Node js</vt:lpstr>
      <vt:lpstr>content</vt:lpstr>
      <vt:lpstr>web</vt:lpstr>
      <vt:lpstr>PowerPoint 演示文稿</vt:lpstr>
      <vt:lpstr>app server  vs   web server</vt:lpstr>
      <vt:lpstr>Node js</vt:lpstr>
      <vt:lpstr>           Blocking                        vs                non Blocking</vt:lpstr>
      <vt:lpstr>PowerPoint 演示文稿</vt:lpstr>
      <vt:lpstr>why use Node.js</vt:lpstr>
      <vt:lpstr>Node JS Environment</vt:lpstr>
      <vt:lpstr>set up node js go to : 	https://nodejs.org/en/download </vt:lpstr>
      <vt:lpstr>npm</vt:lpstr>
      <vt:lpstr> Modules</vt:lpstr>
      <vt:lpstr>Core Module</vt:lpstr>
      <vt:lpstr>fs (File System) </vt:lpstr>
      <vt:lpstr>Modular Programming</vt:lpstr>
      <vt:lpstr>Node REPL</vt:lpstr>
      <vt:lpstr>process.argv</vt:lpstr>
      <vt:lpstr>demo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shimaa ismail</cp:lastModifiedBy>
  <cp:revision>82</cp:revision>
  <dcterms:created xsi:type="dcterms:W3CDTF">2015-10-17T07:33:00Z</dcterms:created>
  <dcterms:modified xsi:type="dcterms:W3CDTF">2026-03-29T10:07:20Z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2057-12.2.0.23196</vt:lpwstr>
  </property>
  <property fmtid="{D5CDD505-2E9C-101B-9397-08002B2CF9AE}" pid="3" name="ICV">
    <vt:lpwstr>723201727791428DB2CB6B704128EEF3_12</vt:lpwstr>
  </property>
  <property fmtid="{D5CDD505-2E9C-101B-9397-08002B2CF9AE}" pid="4" name="ContentTypeId">
    <vt:lpwstr>0x010100E569843BE9C8A54687BECE1C962241DE</vt:lpwstr>
  </property>
</Properties>
</file>